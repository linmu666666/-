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" y="45720"/>
            <a:ext cx="12097512" cy="6766560"/>
          </a:xfrm>
          <a:prstGeom prst="rect">
            <a:avLst/>
          </a:prstGeom>
          <a:noFill/>
          <a:ln w="317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" y="45720"/>
            <a:ext cx="12097512" cy="594360"/>
          </a:xfrm>
          <a:prstGeom prst="rect">
            <a:avLst/>
          </a:prstGeom>
          <a:solidFill>
            <a:srgbClr val="F5F5F5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73152"/>
            <a:ext cx="1191463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 i="0">
                <a:solidFill>
                  <a:srgbClr val="000000"/>
                </a:solidFill>
                <a:latin typeface="Arial"/>
              </a:rPr>
              <a:t>Schematic Mechanism for Synchronous NOₓ Removal and CO Oxidation over Mn-Fe/N-AC Catalyst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60520" y="713232"/>
            <a:ext cx="3886200" cy="6053328"/>
          </a:xfrm>
          <a:prstGeom prst="roundRect">
            <a:avLst>
              <a:gd name="adj" fmla="val 20000"/>
            </a:avLst>
          </a:prstGeom>
          <a:solidFill>
            <a:srgbClr val="E0E0E0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51959" y="969264"/>
            <a:ext cx="493775" cy="475488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15968" y="1033272"/>
            <a:ext cx="365759" cy="347472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82312" y="969264"/>
            <a:ext cx="493775" cy="475488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46320" y="1033272"/>
            <a:ext cx="365759" cy="347472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12664" y="969264"/>
            <a:ext cx="493775" cy="475488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76672" y="1033272"/>
            <a:ext cx="365759" cy="347472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43015" y="969264"/>
            <a:ext cx="493775" cy="475488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07023" y="1033272"/>
            <a:ext cx="365759" cy="347472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73367" y="969264"/>
            <a:ext cx="493775" cy="475488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37375" y="1033272"/>
            <a:ext cx="365759" cy="347472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03719" y="969264"/>
            <a:ext cx="493775" cy="475488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67727" y="1033272"/>
            <a:ext cx="365759" cy="347472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1959" y="1481328"/>
            <a:ext cx="493775" cy="475488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545336"/>
            <a:ext cx="365759" cy="347472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82312" y="1481328"/>
            <a:ext cx="493775" cy="475488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46320" y="1545336"/>
            <a:ext cx="365759" cy="347472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12664" y="1481328"/>
            <a:ext cx="493775" cy="475488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76672" y="1545336"/>
            <a:ext cx="365759" cy="347472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43015" y="1481328"/>
            <a:ext cx="493775" cy="475488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07023" y="1545336"/>
            <a:ext cx="365759" cy="347472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73367" y="1481328"/>
            <a:ext cx="493775" cy="475488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37375" y="1545336"/>
            <a:ext cx="365759" cy="347472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03719" y="1481328"/>
            <a:ext cx="493775" cy="475488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67727" y="1545336"/>
            <a:ext cx="365759" cy="347472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51959" y="1993392"/>
            <a:ext cx="493775" cy="475488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15968" y="2057400"/>
            <a:ext cx="365759" cy="347472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782312" y="1993392"/>
            <a:ext cx="493775" cy="475488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846320" y="2057400"/>
            <a:ext cx="365759" cy="347472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312664" y="1993392"/>
            <a:ext cx="493775" cy="475488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376672" y="2057400"/>
            <a:ext cx="365759" cy="347472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43015" y="1993392"/>
            <a:ext cx="493775" cy="475488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907023" y="2057400"/>
            <a:ext cx="365759" cy="347472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73367" y="1993392"/>
            <a:ext cx="493775" cy="475488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37375" y="2057400"/>
            <a:ext cx="365759" cy="347472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903719" y="1993392"/>
            <a:ext cx="493775" cy="475488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967727" y="2057400"/>
            <a:ext cx="365759" cy="347472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51959" y="2505456"/>
            <a:ext cx="493775" cy="475488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15968" y="2569464"/>
            <a:ext cx="365759" cy="347472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782312" y="2505456"/>
            <a:ext cx="493775" cy="475488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846320" y="2569464"/>
            <a:ext cx="365759" cy="347472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312664" y="2505456"/>
            <a:ext cx="493775" cy="475488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376672" y="2569464"/>
            <a:ext cx="365759" cy="347472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843015" y="2505456"/>
            <a:ext cx="493775" cy="475488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907023" y="2569464"/>
            <a:ext cx="365759" cy="347472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373367" y="2505456"/>
            <a:ext cx="493775" cy="475488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37375" y="2569464"/>
            <a:ext cx="365759" cy="347472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903719" y="2505456"/>
            <a:ext cx="493775" cy="475488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967727" y="2569464"/>
            <a:ext cx="365759" cy="347472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51959" y="3017520"/>
            <a:ext cx="493775" cy="475488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315968" y="3081528"/>
            <a:ext cx="365759" cy="347472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782312" y="3017520"/>
            <a:ext cx="493775" cy="475488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846320" y="3081528"/>
            <a:ext cx="365759" cy="347472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312664" y="3017520"/>
            <a:ext cx="493775" cy="475488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376672" y="3081528"/>
            <a:ext cx="365759" cy="347472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43015" y="3017520"/>
            <a:ext cx="493775" cy="475488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07023" y="3081528"/>
            <a:ext cx="365759" cy="347472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373367" y="3017520"/>
            <a:ext cx="493775" cy="475488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437375" y="3081528"/>
            <a:ext cx="365759" cy="347472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903719" y="3017520"/>
            <a:ext cx="493775" cy="475488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967727" y="3081528"/>
            <a:ext cx="365759" cy="347472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251959" y="3529584"/>
            <a:ext cx="493775" cy="475488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315968" y="3593592"/>
            <a:ext cx="365759" cy="347472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782312" y="3529584"/>
            <a:ext cx="493775" cy="475488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846320" y="3593592"/>
            <a:ext cx="365759" cy="347472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312664" y="3529584"/>
            <a:ext cx="493775" cy="475488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376672" y="3593592"/>
            <a:ext cx="365759" cy="347472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843015" y="3529584"/>
            <a:ext cx="493775" cy="475488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907023" y="3593592"/>
            <a:ext cx="365759" cy="347472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73367" y="3529584"/>
            <a:ext cx="493775" cy="475488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37375" y="3593592"/>
            <a:ext cx="365759" cy="347472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903719" y="3529584"/>
            <a:ext cx="493775" cy="475488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967727" y="3593592"/>
            <a:ext cx="365759" cy="347472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251959" y="4041648"/>
            <a:ext cx="493775" cy="475488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315968" y="4105656"/>
            <a:ext cx="365759" cy="347472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782312" y="4041648"/>
            <a:ext cx="493775" cy="475488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846320" y="4105656"/>
            <a:ext cx="365759" cy="347472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5312664" y="4041648"/>
            <a:ext cx="493775" cy="475488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376672" y="4105656"/>
            <a:ext cx="365759" cy="347472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5843015" y="4041648"/>
            <a:ext cx="493775" cy="475488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5907023" y="4105656"/>
            <a:ext cx="365759" cy="347472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73367" y="4041648"/>
            <a:ext cx="493775" cy="475488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437375" y="4105656"/>
            <a:ext cx="365759" cy="347472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903719" y="4041648"/>
            <a:ext cx="493775" cy="475488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967727" y="4105656"/>
            <a:ext cx="365759" cy="347472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4251959" y="4553712"/>
            <a:ext cx="493775" cy="475488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315968" y="4617720"/>
            <a:ext cx="365759" cy="347472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782312" y="4553712"/>
            <a:ext cx="493775" cy="475488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4846320" y="4617720"/>
            <a:ext cx="365759" cy="347472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5312664" y="4553712"/>
            <a:ext cx="493775" cy="475488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5376672" y="4617720"/>
            <a:ext cx="365759" cy="347472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5843015" y="4553712"/>
            <a:ext cx="493775" cy="475488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5907023" y="4617720"/>
            <a:ext cx="365759" cy="347472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6373367" y="4553712"/>
            <a:ext cx="493775" cy="475488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6437375" y="4617720"/>
            <a:ext cx="365759" cy="347472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903719" y="4553712"/>
            <a:ext cx="493775" cy="475488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967727" y="4617720"/>
            <a:ext cx="365759" cy="347472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4251959" y="5065776"/>
            <a:ext cx="493775" cy="475488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4315968" y="5129784"/>
            <a:ext cx="365759" cy="347472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4782312" y="5065776"/>
            <a:ext cx="493775" cy="475488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4846320" y="5129784"/>
            <a:ext cx="365759" cy="347472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5312664" y="5065776"/>
            <a:ext cx="493775" cy="475488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5376672" y="5129784"/>
            <a:ext cx="365759" cy="347472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5843015" y="5065776"/>
            <a:ext cx="493775" cy="475488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5907023" y="5129784"/>
            <a:ext cx="365759" cy="347472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373367" y="5065776"/>
            <a:ext cx="493775" cy="475488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437375" y="5129784"/>
            <a:ext cx="365759" cy="347472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6903719" y="5065776"/>
            <a:ext cx="493775" cy="475488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967727" y="5129784"/>
            <a:ext cx="365759" cy="347472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4663440" y="841247"/>
            <a:ext cx="548640" cy="548640"/>
          </a:xfrm>
          <a:prstGeom prst="ellipse">
            <a:avLst/>
          </a:prstGeom>
          <a:solidFill>
            <a:srgbClr val="9B55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4663440" y="841247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Mn₃O₄</a:t>
            </a:r>
          </a:p>
        </p:txBody>
      </p:sp>
      <p:sp>
        <p:nvSpPr>
          <p:cNvPr id="116" name="Oval 115"/>
          <p:cNvSpPr/>
          <p:nvPr/>
        </p:nvSpPr>
        <p:spPr>
          <a:xfrm>
            <a:off x="4590288" y="2157984"/>
            <a:ext cx="475488" cy="475488"/>
          </a:xfrm>
          <a:prstGeom prst="ellipse">
            <a:avLst/>
          </a:prstGeom>
          <a:solidFill>
            <a:srgbClr val="9B55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4590288" y="2157984"/>
            <a:ext cx="47548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Mn₃O₄</a:t>
            </a:r>
          </a:p>
        </p:txBody>
      </p:sp>
      <p:sp>
        <p:nvSpPr>
          <p:cNvPr id="118" name="Oval 117"/>
          <p:cNvSpPr/>
          <p:nvPr/>
        </p:nvSpPr>
        <p:spPr>
          <a:xfrm>
            <a:off x="6382512" y="4206240"/>
            <a:ext cx="402336" cy="402336"/>
          </a:xfrm>
          <a:prstGeom prst="ellipse">
            <a:avLst/>
          </a:prstGeom>
          <a:solidFill>
            <a:srgbClr val="9B55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382512" y="4206240"/>
            <a:ext cx="4023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Mn₃O₄</a:t>
            </a:r>
          </a:p>
        </p:txBody>
      </p:sp>
      <p:sp>
        <p:nvSpPr>
          <p:cNvPr id="120" name="Oval 119"/>
          <p:cNvSpPr/>
          <p:nvPr/>
        </p:nvSpPr>
        <p:spPr>
          <a:xfrm>
            <a:off x="6217920" y="896112"/>
            <a:ext cx="548640" cy="548640"/>
          </a:xfrm>
          <a:prstGeom prst="ellipse">
            <a:avLst/>
          </a:prstGeom>
          <a:solidFill>
            <a:srgbClr val="D07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217920" y="896112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Fe₃O₄</a:t>
            </a:r>
          </a:p>
        </p:txBody>
      </p:sp>
      <p:sp>
        <p:nvSpPr>
          <p:cNvPr id="122" name="Oval 121"/>
          <p:cNvSpPr/>
          <p:nvPr/>
        </p:nvSpPr>
        <p:spPr>
          <a:xfrm>
            <a:off x="6025896" y="2551176"/>
            <a:ext cx="475488" cy="475488"/>
          </a:xfrm>
          <a:prstGeom prst="ellipse">
            <a:avLst/>
          </a:prstGeom>
          <a:solidFill>
            <a:srgbClr val="D07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025896" y="2551176"/>
            <a:ext cx="47548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Fe₃O₄</a:t>
            </a:r>
          </a:p>
        </p:txBody>
      </p:sp>
      <p:sp>
        <p:nvSpPr>
          <p:cNvPr id="124" name="Oval 123"/>
          <p:cNvSpPr/>
          <p:nvPr/>
        </p:nvSpPr>
        <p:spPr>
          <a:xfrm>
            <a:off x="5239512" y="3776472"/>
            <a:ext cx="402336" cy="402336"/>
          </a:xfrm>
          <a:prstGeom prst="ellipse">
            <a:avLst/>
          </a:prstGeom>
          <a:solidFill>
            <a:srgbClr val="D07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5239512" y="3776472"/>
            <a:ext cx="4023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Fe₃O₄</a:t>
            </a:r>
          </a:p>
        </p:txBody>
      </p:sp>
      <p:sp>
        <p:nvSpPr>
          <p:cNvPr id="126" name="Oval 125"/>
          <p:cNvSpPr/>
          <p:nvPr/>
        </p:nvSpPr>
        <p:spPr>
          <a:xfrm>
            <a:off x="6089904" y="5129783"/>
            <a:ext cx="438912" cy="438912"/>
          </a:xfrm>
          <a:prstGeom prst="ellipse">
            <a:avLst/>
          </a:prstGeom>
          <a:solidFill>
            <a:srgbClr val="D07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089904" y="5129783"/>
            <a:ext cx="43891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Fe₃O₄</a:t>
            </a:r>
          </a:p>
        </p:txBody>
      </p:sp>
      <p:sp>
        <p:nvSpPr>
          <p:cNvPr id="128" name="Oval 127"/>
          <p:cNvSpPr/>
          <p:nvPr/>
        </p:nvSpPr>
        <p:spPr>
          <a:xfrm>
            <a:off x="5193792" y="859536"/>
            <a:ext cx="256032" cy="256032"/>
          </a:xfrm>
          <a:prstGeom prst="ellipse">
            <a:avLst/>
          </a:prstGeom>
          <a:solidFill>
            <a:srgbClr val="368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193792" y="859536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N</a:t>
            </a:r>
          </a:p>
        </p:txBody>
      </p:sp>
      <p:sp>
        <p:nvSpPr>
          <p:cNvPr id="130" name="Oval 129"/>
          <p:cNvSpPr/>
          <p:nvPr/>
        </p:nvSpPr>
        <p:spPr>
          <a:xfrm>
            <a:off x="5797296" y="914399"/>
            <a:ext cx="256032" cy="256032"/>
          </a:xfrm>
          <a:prstGeom prst="ellipse">
            <a:avLst/>
          </a:prstGeom>
          <a:solidFill>
            <a:srgbClr val="368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5797296" y="914399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N</a:t>
            </a:r>
          </a:p>
        </p:txBody>
      </p:sp>
      <p:sp>
        <p:nvSpPr>
          <p:cNvPr id="132" name="Oval 131"/>
          <p:cNvSpPr/>
          <p:nvPr/>
        </p:nvSpPr>
        <p:spPr>
          <a:xfrm>
            <a:off x="5010912" y="1335024"/>
            <a:ext cx="256032" cy="256032"/>
          </a:xfrm>
          <a:prstGeom prst="ellipse">
            <a:avLst/>
          </a:prstGeom>
          <a:solidFill>
            <a:srgbClr val="368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5010912" y="1335024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N</a:t>
            </a:r>
          </a:p>
        </p:txBody>
      </p:sp>
      <p:sp>
        <p:nvSpPr>
          <p:cNvPr id="134" name="Oval 133"/>
          <p:cNvSpPr/>
          <p:nvPr/>
        </p:nvSpPr>
        <p:spPr>
          <a:xfrm>
            <a:off x="6163056" y="1261872"/>
            <a:ext cx="256032" cy="256032"/>
          </a:xfrm>
          <a:prstGeom prst="ellipse">
            <a:avLst/>
          </a:prstGeom>
          <a:solidFill>
            <a:srgbClr val="368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6163056" y="1261872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N</a:t>
            </a:r>
          </a:p>
        </p:txBody>
      </p:sp>
      <p:sp>
        <p:nvSpPr>
          <p:cNvPr id="136" name="Oval 135"/>
          <p:cNvSpPr/>
          <p:nvPr/>
        </p:nvSpPr>
        <p:spPr>
          <a:xfrm>
            <a:off x="4626864" y="1719072"/>
            <a:ext cx="256032" cy="256032"/>
          </a:xfrm>
          <a:prstGeom prst="ellipse">
            <a:avLst/>
          </a:prstGeom>
          <a:solidFill>
            <a:srgbClr val="368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626864" y="1719072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N</a:t>
            </a:r>
          </a:p>
        </p:txBody>
      </p:sp>
      <p:sp>
        <p:nvSpPr>
          <p:cNvPr id="138" name="Oval 137"/>
          <p:cNvSpPr/>
          <p:nvPr/>
        </p:nvSpPr>
        <p:spPr>
          <a:xfrm>
            <a:off x="5541264" y="1682495"/>
            <a:ext cx="256032" cy="256032"/>
          </a:xfrm>
          <a:prstGeom prst="ellipse">
            <a:avLst/>
          </a:prstGeom>
          <a:solidFill>
            <a:srgbClr val="368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5541264" y="1682495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N</a:t>
            </a:r>
          </a:p>
        </p:txBody>
      </p:sp>
      <p:sp>
        <p:nvSpPr>
          <p:cNvPr id="140" name="Oval 139"/>
          <p:cNvSpPr/>
          <p:nvPr/>
        </p:nvSpPr>
        <p:spPr>
          <a:xfrm>
            <a:off x="6656832" y="1609343"/>
            <a:ext cx="256032" cy="256032"/>
          </a:xfrm>
          <a:prstGeom prst="ellipse">
            <a:avLst/>
          </a:prstGeom>
          <a:solidFill>
            <a:srgbClr val="368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656832" y="1609343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N</a:t>
            </a:r>
          </a:p>
        </p:txBody>
      </p:sp>
      <p:sp>
        <p:nvSpPr>
          <p:cNvPr id="142" name="Oval 141"/>
          <p:cNvSpPr/>
          <p:nvPr/>
        </p:nvSpPr>
        <p:spPr>
          <a:xfrm>
            <a:off x="4946904" y="2112264"/>
            <a:ext cx="256032" cy="256032"/>
          </a:xfrm>
          <a:prstGeom prst="ellipse">
            <a:avLst/>
          </a:prstGeom>
          <a:solidFill>
            <a:srgbClr val="368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946904" y="2112264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N</a:t>
            </a:r>
          </a:p>
        </p:txBody>
      </p:sp>
      <p:sp>
        <p:nvSpPr>
          <p:cNvPr id="144" name="Oval 143"/>
          <p:cNvSpPr/>
          <p:nvPr/>
        </p:nvSpPr>
        <p:spPr>
          <a:xfrm>
            <a:off x="6318504" y="2020824"/>
            <a:ext cx="256032" cy="256032"/>
          </a:xfrm>
          <a:prstGeom prst="ellipse">
            <a:avLst/>
          </a:prstGeom>
          <a:solidFill>
            <a:srgbClr val="368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318504" y="2020824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N</a:t>
            </a:r>
          </a:p>
        </p:txBody>
      </p:sp>
      <p:sp>
        <p:nvSpPr>
          <p:cNvPr id="146" name="Oval 145"/>
          <p:cNvSpPr/>
          <p:nvPr/>
        </p:nvSpPr>
        <p:spPr>
          <a:xfrm>
            <a:off x="4443984" y="2798064"/>
            <a:ext cx="256032" cy="256032"/>
          </a:xfrm>
          <a:prstGeom prst="ellipse">
            <a:avLst/>
          </a:prstGeom>
          <a:solidFill>
            <a:srgbClr val="368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4443984" y="2798064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N</a:t>
            </a:r>
          </a:p>
        </p:txBody>
      </p:sp>
      <p:sp>
        <p:nvSpPr>
          <p:cNvPr id="148" name="Oval 147"/>
          <p:cNvSpPr/>
          <p:nvPr/>
        </p:nvSpPr>
        <p:spPr>
          <a:xfrm>
            <a:off x="5724144" y="2505456"/>
            <a:ext cx="256032" cy="256032"/>
          </a:xfrm>
          <a:prstGeom prst="ellipse">
            <a:avLst/>
          </a:prstGeom>
          <a:solidFill>
            <a:srgbClr val="368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5724144" y="2505456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N</a:t>
            </a:r>
          </a:p>
        </p:txBody>
      </p:sp>
      <p:sp>
        <p:nvSpPr>
          <p:cNvPr id="150" name="Oval 149"/>
          <p:cNvSpPr/>
          <p:nvPr/>
        </p:nvSpPr>
        <p:spPr>
          <a:xfrm>
            <a:off x="6729984" y="2660903"/>
            <a:ext cx="256032" cy="256032"/>
          </a:xfrm>
          <a:prstGeom prst="ellipse">
            <a:avLst/>
          </a:prstGeom>
          <a:solidFill>
            <a:srgbClr val="368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729984" y="2660903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N</a:t>
            </a:r>
          </a:p>
        </p:txBody>
      </p:sp>
      <p:sp>
        <p:nvSpPr>
          <p:cNvPr id="152" name="Oval 151"/>
          <p:cNvSpPr/>
          <p:nvPr/>
        </p:nvSpPr>
        <p:spPr>
          <a:xfrm>
            <a:off x="4718304" y="3300984"/>
            <a:ext cx="256032" cy="256032"/>
          </a:xfrm>
          <a:prstGeom prst="ellipse">
            <a:avLst/>
          </a:prstGeom>
          <a:solidFill>
            <a:srgbClr val="368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4718304" y="3300984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N</a:t>
            </a:r>
          </a:p>
        </p:txBody>
      </p:sp>
      <p:sp>
        <p:nvSpPr>
          <p:cNvPr id="154" name="Oval 153"/>
          <p:cNvSpPr/>
          <p:nvPr/>
        </p:nvSpPr>
        <p:spPr>
          <a:xfrm>
            <a:off x="5998464" y="3182112"/>
            <a:ext cx="256032" cy="256032"/>
          </a:xfrm>
          <a:prstGeom prst="ellipse">
            <a:avLst/>
          </a:prstGeom>
          <a:solidFill>
            <a:srgbClr val="368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5998464" y="3182112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N</a:t>
            </a:r>
          </a:p>
        </p:txBody>
      </p:sp>
      <p:sp>
        <p:nvSpPr>
          <p:cNvPr id="156" name="Oval 155"/>
          <p:cNvSpPr/>
          <p:nvPr/>
        </p:nvSpPr>
        <p:spPr>
          <a:xfrm>
            <a:off x="5175504" y="3694176"/>
            <a:ext cx="256032" cy="256032"/>
          </a:xfrm>
          <a:prstGeom prst="ellipse">
            <a:avLst/>
          </a:prstGeom>
          <a:solidFill>
            <a:srgbClr val="368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5175504" y="3694176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N</a:t>
            </a:r>
          </a:p>
        </p:txBody>
      </p:sp>
      <p:sp>
        <p:nvSpPr>
          <p:cNvPr id="158" name="Oval 157"/>
          <p:cNvSpPr/>
          <p:nvPr/>
        </p:nvSpPr>
        <p:spPr>
          <a:xfrm>
            <a:off x="6547104" y="3730752"/>
            <a:ext cx="256032" cy="256032"/>
          </a:xfrm>
          <a:prstGeom prst="ellipse">
            <a:avLst/>
          </a:prstGeom>
          <a:solidFill>
            <a:srgbClr val="368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6547104" y="3730752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N</a:t>
            </a:r>
          </a:p>
        </p:txBody>
      </p:sp>
      <p:sp>
        <p:nvSpPr>
          <p:cNvPr id="160" name="Oval 159"/>
          <p:cNvSpPr/>
          <p:nvPr/>
        </p:nvSpPr>
        <p:spPr>
          <a:xfrm>
            <a:off x="4535424" y="4443984"/>
            <a:ext cx="256032" cy="256032"/>
          </a:xfrm>
          <a:prstGeom prst="ellipse">
            <a:avLst/>
          </a:prstGeom>
          <a:solidFill>
            <a:srgbClr val="368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535424" y="4443984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N</a:t>
            </a:r>
          </a:p>
        </p:txBody>
      </p:sp>
      <p:sp>
        <p:nvSpPr>
          <p:cNvPr id="162" name="Oval 161"/>
          <p:cNvSpPr/>
          <p:nvPr/>
        </p:nvSpPr>
        <p:spPr>
          <a:xfrm>
            <a:off x="5769864" y="4700016"/>
            <a:ext cx="256032" cy="256032"/>
          </a:xfrm>
          <a:prstGeom prst="ellipse">
            <a:avLst/>
          </a:prstGeom>
          <a:solidFill>
            <a:srgbClr val="368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5769864" y="4700016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N</a:t>
            </a:r>
          </a:p>
        </p:txBody>
      </p:sp>
      <p:sp>
        <p:nvSpPr>
          <p:cNvPr id="164" name="Oval 163"/>
          <p:cNvSpPr/>
          <p:nvPr/>
        </p:nvSpPr>
        <p:spPr>
          <a:xfrm>
            <a:off x="6894576" y="4828032"/>
            <a:ext cx="256032" cy="256032"/>
          </a:xfrm>
          <a:prstGeom prst="ellipse">
            <a:avLst/>
          </a:prstGeom>
          <a:solidFill>
            <a:srgbClr val="368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6894576" y="4828032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N</a:t>
            </a:r>
          </a:p>
        </p:txBody>
      </p:sp>
      <p:sp>
        <p:nvSpPr>
          <p:cNvPr id="166" name="Oval 165"/>
          <p:cNvSpPr/>
          <p:nvPr/>
        </p:nvSpPr>
        <p:spPr>
          <a:xfrm>
            <a:off x="4946904" y="5221224"/>
            <a:ext cx="256032" cy="256032"/>
          </a:xfrm>
          <a:prstGeom prst="ellipse">
            <a:avLst/>
          </a:prstGeom>
          <a:solidFill>
            <a:srgbClr val="368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946904" y="5221224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N</a:t>
            </a:r>
          </a:p>
        </p:txBody>
      </p:sp>
      <p:sp>
        <p:nvSpPr>
          <p:cNvPr id="168" name="Oval 167"/>
          <p:cNvSpPr/>
          <p:nvPr/>
        </p:nvSpPr>
        <p:spPr>
          <a:xfrm>
            <a:off x="6318504" y="5678424"/>
            <a:ext cx="256032" cy="256032"/>
          </a:xfrm>
          <a:prstGeom prst="ellipse">
            <a:avLst/>
          </a:prstGeom>
          <a:solidFill>
            <a:srgbClr val="368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318504" y="5678424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N</a:t>
            </a:r>
          </a:p>
        </p:txBody>
      </p:sp>
      <p:sp>
        <p:nvSpPr>
          <p:cNvPr id="170" name="Oval 169"/>
          <p:cNvSpPr/>
          <p:nvPr/>
        </p:nvSpPr>
        <p:spPr>
          <a:xfrm>
            <a:off x="5541264" y="5998464"/>
            <a:ext cx="256032" cy="256032"/>
          </a:xfrm>
          <a:prstGeom prst="ellipse">
            <a:avLst/>
          </a:prstGeom>
          <a:solidFill>
            <a:srgbClr val="368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5541264" y="5998464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N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4206240" y="74066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B559B"/>
                </a:solidFill>
                <a:latin typeface="Arial"/>
              </a:rPr>
              <a:t>Mn₃O₄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6172200" y="74066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07530"/>
                </a:solidFill>
                <a:latin typeface="Arial"/>
              </a:rPr>
              <a:t>Fe₃O₄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4251959" y="6382512"/>
            <a:ext cx="3703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Arial"/>
              </a:rPr>
              <a:t>Mn-Fe/N-AC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91440" y="713232"/>
            <a:ext cx="3950208" cy="2999232"/>
          </a:xfrm>
          <a:prstGeom prst="roundRect">
            <a:avLst>
              <a:gd name="adj" fmla="val 35000"/>
            </a:avLst>
          </a:prstGeom>
          <a:solidFill>
            <a:srgbClr val="BDDFF7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137160" y="758952"/>
            <a:ext cx="3858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NH₃ Adsorption and Activation</a:t>
            </a:r>
          </a:p>
        </p:txBody>
      </p:sp>
      <p:sp>
        <p:nvSpPr>
          <p:cNvPr id="177" name="Oval 176"/>
          <p:cNvSpPr/>
          <p:nvPr/>
        </p:nvSpPr>
        <p:spPr>
          <a:xfrm>
            <a:off x="310896" y="923544"/>
            <a:ext cx="384048" cy="384048"/>
          </a:xfrm>
          <a:prstGeom prst="ellipse">
            <a:avLst/>
          </a:prstGeom>
          <a:solidFill>
            <a:srgbClr val="479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310896" y="923544"/>
            <a:ext cx="3840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NH₃</a:t>
            </a:r>
          </a:p>
        </p:txBody>
      </p:sp>
      <p:sp>
        <p:nvSpPr>
          <p:cNvPr id="179" name="Oval 178"/>
          <p:cNvSpPr/>
          <p:nvPr/>
        </p:nvSpPr>
        <p:spPr>
          <a:xfrm>
            <a:off x="310896" y="1344168"/>
            <a:ext cx="384048" cy="384048"/>
          </a:xfrm>
          <a:prstGeom prst="ellipse">
            <a:avLst/>
          </a:prstGeom>
          <a:solidFill>
            <a:srgbClr val="479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310896" y="1344168"/>
            <a:ext cx="3840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NH₃</a:t>
            </a:r>
          </a:p>
        </p:txBody>
      </p:sp>
      <p:sp>
        <p:nvSpPr>
          <p:cNvPr id="181" name="Oval 180"/>
          <p:cNvSpPr/>
          <p:nvPr/>
        </p:nvSpPr>
        <p:spPr>
          <a:xfrm>
            <a:off x="374904" y="1764792"/>
            <a:ext cx="384048" cy="384048"/>
          </a:xfrm>
          <a:prstGeom prst="ellipse">
            <a:avLst/>
          </a:prstGeom>
          <a:solidFill>
            <a:srgbClr val="479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374904" y="1764792"/>
            <a:ext cx="3840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NH₃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749808" y="1417320"/>
            <a:ext cx="7498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Arial"/>
              </a:rPr>
              <a:t>L-NH₃</a:t>
            </a:r>
          </a:p>
        </p:txBody>
      </p:sp>
      <p:cxnSp>
        <p:nvCxnSpPr>
          <p:cNvPr id="184" name="Connector 183"/>
          <p:cNvCxnSpPr/>
          <p:nvPr/>
        </p:nvCxnSpPr>
        <p:spPr>
          <a:xfrm>
            <a:off x="713232" y="1691640"/>
            <a:ext cx="402336" cy="411480"/>
          </a:xfrm>
          <a:prstGeom prst="line">
            <a:avLst/>
          </a:prstGeom>
          <a:ln w="15240">
            <a:solidFill>
              <a:srgbClr val="2E75B6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Oval 184"/>
          <p:cNvSpPr/>
          <p:nvPr/>
        </p:nvSpPr>
        <p:spPr>
          <a:xfrm>
            <a:off x="1051560" y="1947672"/>
            <a:ext cx="548640" cy="548640"/>
          </a:xfrm>
          <a:prstGeom prst="ellipse">
            <a:avLst/>
          </a:prstGeom>
          <a:solidFill>
            <a:srgbClr val="8B4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1051560" y="1947672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Mn/Fe</a:t>
            </a:r>
          </a:p>
        </p:txBody>
      </p:sp>
      <p:sp>
        <p:nvSpPr>
          <p:cNvPr id="187" name="Oval 186"/>
          <p:cNvSpPr/>
          <p:nvPr/>
        </p:nvSpPr>
        <p:spPr>
          <a:xfrm>
            <a:off x="1563624" y="2002536"/>
            <a:ext cx="438912" cy="438912"/>
          </a:xfrm>
          <a:prstGeom prst="ellipse">
            <a:avLst/>
          </a:prstGeom>
          <a:solidFill>
            <a:srgbClr val="CD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1563624" y="2002536"/>
            <a:ext cx="43891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Fe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1078992" y="252374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L-acid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1645920" y="987552"/>
            <a:ext cx="1389888" cy="594360"/>
          </a:xfrm>
          <a:prstGeom prst="rect">
            <a:avLst/>
          </a:prstGeom>
          <a:solidFill>
            <a:srgbClr val="FAFAE0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1682496" y="1005840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0000"/>
                </a:solidFill>
                <a:latin typeface="Arial"/>
              </a:rPr>
              <a:t>Oxygen vacancy</a:t>
            </a:r>
          </a:p>
        </p:txBody>
      </p:sp>
      <p:sp>
        <p:nvSpPr>
          <p:cNvPr id="192" name="Oval 191"/>
          <p:cNvSpPr/>
          <p:nvPr/>
        </p:nvSpPr>
        <p:spPr>
          <a:xfrm>
            <a:off x="2176272" y="1197864"/>
            <a:ext cx="365760" cy="365760"/>
          </a:xfrm>
          <a:prstGeom prst="ellipse">
            <a:avLst/>
          </a:prstGeom>
          <a:solidFill>
            <a:srgbClr val="2B9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2176272" y="1197864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O₂</a:t>
            </a:r>
          </a:p>
        </p:txBody>
      </p:sp>
      <p:sp>
        <p:nvSpPr>
          <p:cNvPr id="194" name="Oval 193"/>
          <p:cNvSpPr/>
          <p:nvPr/>
        </p:nvSpPr>
        <p:spPr>
          <a:xfrm>
            <a:off x="1993391" y="1883663"/>
            <a:ext cx="402336" cy="402336"/>
          </a:xfrm>
          <a:prstGeom prst="ellipse">
            <a:avLst/>
          </a:prstGeom>
          <a:solidFill>
            <a:srgbClr val="609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1993391" y="1883663"/>
            <a:ext cx="4023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H₄⁺</a:t>
            </a:r>
          </a:p>
        </p:txBody>
      </p:sp>
      <p:sp>
        <p:nvSpPr>
          <p:cNvPr id="196" name="Oval 195"/>
          <p:cNvSpPr/>
          <p:nvPr/>
        </p:nvSpPr>
        <p:spPr>
          <a:xfrm>
            <a:off x="2542032" y="1682496"/>
            <a:ext cx="438912" cy="438912"/>
          </a:xfrm>
          <a:prstGeom prst="ellipse">
            <a:avLst/>
          </a:prstGeom>
          <a:solidFill>
            <a:srgbClr val="55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2542032" y="1682496"/>
            <a:ext cx="43891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NH₄⁺</a:t>
            </a:r>
          </a:p>
        </p:txBody>
      </p:sp>
      <p:sp>
        <p:nvSpPr>
          <p:cNvPr id="198" name="Oval 197"/>
          <p:cNvSpPr/>
          <p:nvPr/>
        </p:nvSpPr>
        <p:spPr>
          <a:xfrm>
            <a:off x="3127248" y="1956815"/>
            <a:ext cx="512064" cy="512064"/>
          </a:xfrm>
          <a:prstGeom prst="ellipse">
            <a:avLst/>
          </a:prstGeom>
          <a:solidFill>
            <a:srgbClr val="C89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3127248" y="1956815"/>
            <a:ext cx="512064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B-acid</a:t>
            </a:r>
          </a:p>
        </p:txBody>
      </p:sp>
      <p:cxnSp>
        <p:nvCxnSpPr>
          <p:cNvPr id="200" name="Connector 199"/>
          <p:cNvCxnSpPr/>
          <p:nvPr/>
        </p:nvCxnSpPr>
        <p:spPr>
          <a:xfrm flipH="1">
            <a:off x="1627632" y="1280160"/>
            <a:ext cx="475488" cy="685800"/>
          </a:xfrm>
          <a:prstGeom prst="line">
            <a:avLst/>
          </a:prstGeom>
          <a:ln w="15240">
            <a:solidFill>
              <a:srgbClr val="2E75B6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1" name="Rectangle 200"/>
          <p:cNvSpPr/>
          <p:nvPr/>
        </p:nvSpPr>
        <p:spPr>
          <a:xfrm>
            <a:off x="164592" y="3090672"/>
            <a:ext cx="3785616" cy="347472"/>
          </a:xfrm>
          <a:prstGeom prst="roundRect">
            <a:avLst>
              <a:gd name="adj" fmla="val 15000"/>
            </a:avLst>
          </a:prstGeom>
          <a:solidFill>
            <a:srgbClr val="868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164592" y="3127248"/>
            <a:ext cx="37856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N-AC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37160" y="3493008"/>
            <a:ext cx="3858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333333"/>
                </a:solidFill>
                <a:latin typeface="Arial"/>
              </a:rPr>
              <a:t>Oxygen vacancies but in all oxygen vacantly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8147304" y="713232"/>
            <a:ext cx="3950208" cy="2999232"/>
          </a:xfrm>
          <a:prstGeom prst="roundRect">
            <a:avLst>
              <a:gd name="adj" fmla="val 35000"/>
            </a:avLst>
          </a:prstGeom>
          <a:solidFill>
            <a:srgbClr val="FCE9C4"/>
          </a:solidFill>
          <a:ln w="19050">
            <a:solidFill>
              <a:srgbClr val="B86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8193024" y="758952"/>
            <a:ext cx="3858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Mn-Fe Synergistic Redox Cycle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8238744" y="1078992"/>
            <a:ext cx="3767328" cy="1554480"/>
          </a:xfrm>
          <a:prstGeom prst="roundRect">
            <a:avLst>
              <a:gd name="adj" fmla="val 35000"/>
            </a:avLst>
          </a:prstGeom>
          <a:solidFill>
            <a:srgbClr val="FFF8EA"/>
          </a:solidFill>
          <a:ln w="12700">
            <a:solidFill>
              <a:srgbClr val="D08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8284464" y="1188720"/>
            <a:ext cx="36758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Arial"/>
              </a:rPr>
              <a:t>Mn⁴⁺ + Fe²⁺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10296144" y="1188720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Arial"/>
              </a:rPr>
              <a:t>Mn³⁺ + Fe³⁺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9683496" y="1170432"/>
            <a:ext cx="566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0000"/>
                </a:solidFill>
                <a:latin typeface="Arial"/>
              </a:rPr>
              <a:t>⇌</a:t>
            </a:r>
          </a:p>
        </p:txBody>
      </p:sp>
      <p:sp>
        <p:nvSpPr>
          <p:cNvPr id="210" name="Oval 209"/>
          <p:cNvSpPr/>
          <p:nvPr/>
        </p:nvSpPr>
        <p:spPr>
          <a:xfrm>
            <a:off x="9464040" y="1272844"/>
            <a:ext cx="1316736" cy="855878"/>
          </a:xfrm>
          <a:prstGeom prst="ellipse">
            <a:avLst/>
          </a:prstGeom>
          <a:noFill/>
          <a:ln w="25400">
            <a:solidFill>
              <a:srgbClr val="1F6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8421624" y="1115568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Arial"/>
              </a:rPr>
              <a:t>e⁻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11301984" y="1115568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Arial"/>
              </a:rPr>
              <a:t>e⁻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11119104" y="188366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5510"/>
                </a:solidFill>
                <a:latin typeface="Arial"/>
              </a:rPr>
              <a:t>Oₐᵈₛ</a:t>
            </a:r>
          </a:p>
        </p:txBody>
      </p:sp>
      <p:cxnSp>
        <p:nvCxnSpPr>
          <p:cNvPr id="214" name="Connector 213"/>
          <p:cNvCxnSpPr/>
          <p:nvPr/>
        </p:nvCxnSpPr>
        <p:spPr>
          <a:xfrm flipV="1">
            <a:off x="8714232" y="1216152"/>
            <a:ext cx="914400" cy="118872"/>
          </a:xfrm>
          <a:prstGeom prst="line">
            <a:avLst/>
          </a:prstGeom>
          <a:ln w="19050">
            <a:solidFill>
              <a:srgbClr val="1F60A8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 flipH="1">
            <a:off x="10634472" y="1883664"/>
            <a:ext cx="914400" cy="146303"/>
          </a:xfrm>
          <a:prstGeom prst="line">
            <a:avLst/>
          </a:prstGeom>
          <a:ln w="19050">
            <a:solidFill>
              <a:srgbClr val="1F60A8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TextBox 215"/>
          <p:cNvSpPr txBox="1"/>
          <p:nvPr/>
        </p:nvSpPr>
        <p:spPr>
          <a:xfrm>
            <a:off x="8193024" y="2724912"/>
            <a:ext cx="385876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333333"/>
                </a:solidFill>
                <a:latin typeface="Arial"/>
              </a:rPr>
              <a:t>Electron transfer forms highly active Mn⁴⁺</a:t>
            </a:r>
          </a:p>
          <a:p>
            <a:pPr algn="l"/>
            <a:r>
              <a:rPr sz="850" b="0">
                <a:solidFill>
                  <a:srgbClr val="333333"/>
                </a:solidFill>
                <a:latin typeface="Arial"/>
              </a:rPr>
              <a:t>oxidation sites and simultaneously activates</a:t>
            </a:r>
          </a:p>
          <a:p>
            <a:pPr algn="l"/>
            <a:r>
              <a:rPr sz="850" b="0">
                <a:solidFill>
                  <a:srgbClr val="333333"/>
                </a:solidFill>
                <a:latin typeface="Arial"/>
              </a:rPr>
              <a:t>surface adsorbed oxygen species (Oₐᵈₛ)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91440" y="3803904"/>
            <a:ext cx="3950208" cy="2962656"/>
          </a:xfrm>
          <a:prstGeom prst="roundRect">
            <a:avLst>
              <a:gd name="adj" fmla="val 35000"/>
            </a:avLst>
          </a:prstGeom>
          <a:solidFill>
            <a:srgbClr val="BDDFF7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137160" y="3840480"/>
            <a:ext cx="3858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Arial"/>
              </a:rPr>
              <a:t>Low-Temperature SCR Reaction Path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137160" y="4078224"/>
            <a:ext cx="38587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"/>
              </a:rPr>
              <a:t>(L-H &amp; E-R Mechanisms)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2057400" y="4352544"/>
            <a:ext cx="18288" cy="213969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164592" y="4370832"/>
            <a:ext cx="18745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E-R mechanism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2112264" y="4370832"/>
            <a:ext cx="18745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L-H mechanism</a:t>
            </a:r>
          </a:p>
        </p:txBody>
      </p:sp>
      <p:sp>
        <p:nvSpPr>
          <p:cNvPr id="223" name="Oval 222"/>
          <p:cNvSpPr/>
          <p:nvPr/>
        </p:nvSpPr>
        <p:spPr>
          <a:xfrm>
            <a:off x="265176" y="4526279"/>
            <a:ext cx="420624" cy="420624"/>
          </a:xfrm>
          <a:prstGeom prst="ellipse">
            <a:avLst/>
          </a:prstGeom>
          <a:solidFill>
            <a:srgbClr val="A06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265176" y="4526279"/>
            <a:ext cx="420624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NO</a:t>
            </a:r>
          </a:p>
        </p:txBody>
      </p:sp>
      <p:sp>
        <p:nvSpPr>
          <p:cNvPr id="225" name="Oval 224"/>
          <p:cNvSpPr/>
          <p:nvPr/>
        </p:nvSpPr>
        <p:spPr>
          <a:xfrm>
            <a:off x="265176" y="5111496"/>
            <a:ext cx="420624" cy="420624"/>
          </a:xfrm>
          <a:prstGeom prst="ellipse">
            <a:avLst/>
          </a:prstGeom>
          <a:solidFill>
            <a:srgbClr val="A06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265176" y="5111496"/>
            <a:ext cx="420624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NO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731519" y="4681728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Arial"/>
              </a:rPr>
              <a:t>L-NH₃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164592" y="5138928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Arial"/>
              </a:rPr>
              <a:t>L-NH₃</a:t>
            </a:r>
          </a:p>
        </p:txBody>
      </p:sp>
      <p:cxnSp>
        <p:nvCxnSpPr>
          <p:cNvPr id="229" name="Connector 228"/>
          <p:cNvCxnSpPr/>
          <p:nvPr/>
        </p:nvCxnSpPr>
        <p:spPr>
          <a:xfrm>
            <a:off x="475488" y="4974336"/>
            <a:ext cx="347472" cy="274320"/>
          </a:xfrm>
          <a:prstGeom prst="line">
            <a:avLst/>
          </a:prstGeom>
          <a:ln w="15240">
            <a:solidFill>
              <a:srgbClr val="2E75B6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>
            <a:off x="475488" y="5522976"/>
            <a:ext cx="347472" cy="201168"/>
          </a:xfrm>
          <a:prstGeom prst="line">
            <a:avLst/>
          </a:prstGeom>
          <a:ln w="15240">
            <a:solidFill>
              <a:srgbClr val="2E75B6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1" name="Oval 230"/>
          <p:cNvSpPr/>
          <p:nvPr/>
        </p:nvSpPr>
        <p:spPr>
          <a:xfrm>
            <a:off x="795528" y="5541264"/>
            <a:ext cx="512064" cy="512064"/>
          </a:xfrm>
          <a:prstGeom prst="ellipse">
            <a:avLst/>
          </a:prstGeom>
          <a:solidFill>
            <a:srgbClr val="8B4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795528" y="5541264"/>
            <a:ext cx="512064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Mn/Fe</a:t>
            </a:r>
          </a:p>
        </p:txBody>
      </p:sp>
      <p:sp>
        <p:nvSpPr>
          <p:cNvPr id="233" name="Oval 232"/>
          <p:cNvSpPr/>
          <p:nvPr/>
        </p:nvSpPr>
        <p:spPr>
          <a:xfrm>
            <a:off x="1353312" y="5577840"/>
            <a:ext cx="438912" cy="438912"/>
          </a:xfrm>
          <a:prstGeom prst="ellipse">
            <a:avLst/>
          </a:prstGeom>
          <a:solidFill>
            <a:srgbClr val="8B4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1353312" y="5577840"/>
            <a:ext cx="43891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Mn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2112264" y="464515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Co-adsorbed
L-NH₃</a:t>
            </a:r>
          </a:p>
        </p:txBody>
      </p:sp>
      <p:sp>
        <p:nvSpPr>
          <p:cNvPr id="236" name="Oval 235"/>
          <p:cNvSpPr/>
          <p:nvPr/>
        </p:nvSpPr>
        <p:spPr>
          <a:xfrm>
            <a:off x="3675887" y="4498848"/>
            <a:ext cx="438912" cy="438912"/>
          </a:xfrm>
          <a:prstGeom prst="ellipse">
            <a:avLst/>
          </a:prstGeom>
          <a:solidFill>
            <a:srgbClr val="DD4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3675887" y="4498848"/>
            <a:ext cx="43891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NO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3666744" y="4974336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7000"/>
                </a:solidFill>
                <a:latin typeface="Arial"/>
              </a:rPr>
              <a:t>N₂
+H₂O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2569464" y="53766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Arial"/>
              </a:rPr>
              <a:t>NOₓ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2569464" y="563270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Arial"/>
              </a:rPr>
              <a:t>O═N─O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164592" y="6199632"/>
            <a:ext cx="3785616" cy="347472"/>
          </a:xfrm>
          <a:prstGeom prst="roundRect">
            <a:avLst>
              <a:gd name="adj" fmla="val 15000"/>
            </a:avLst>
          </a:prstGeom>
          <a:solidFill>
            <a:srgbClr val="868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164592" y="6236208"/>
            <a:ext cx="37856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N-AC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137160" y="6574536"/>
            <a:ext cx="3858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0000"/>
                </a:solidFill>
                <a:latin typeface="Arial"/>
              </a:rPr>
              <a:t>L-H (co-adsorption)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8147304" y="3803904"/>
            <a:ext cx="3950208" cy="2962656"/>
          </a:xfrm>
          <a:prstGeom prst="roundRect">
            <a:avLst>
              <a:gd name="adj" fmla="val 35000"/>
            </a:avLst>
          </a:prstGeom>
          <a:solidFill>
            <a:srgbClr val="F8D4E0"/>
          </a:solidFill>
          <a:ln w="19050">
            <a:solidFill>
              <a:srgbClr val="C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8193024" y="3840480"/>
            <a:ext cx="3858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Arial"/>
              </a:rPr>
              <a:t>CO/HCHO Oxidation Path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8193024" y="4078224"/>
            <a:ext cx="38587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"/>
              </a:rPr>
              <a:t>(Mars-van Krevelen Mechanism)</a:t>
            </a:r>
          </a:p>
        </p:txBody>
      </p:sp>
      <p:sp>
        <p:nvSpPr>
          <p:cNvPr id="247" name="Oval 246"/>
          <p:cNvSpPr/>
          <p:nvPr/>
        </p:nvSpPr>
        <p:spPr>
          <a:xfrm>
            <a:off x="8238744" y="4215383"/>
            <a:ext cx="438912" cy="438912"/>
          </a:xfrm>
          <a:prstGeom prst="ellipse">
            <a:avLst/>
          </a:prstGeom>
          <a:solidFill>
            <a:srgbClr val="BB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8238744" y="4215383"/>
            <a:ext cx="43891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CO</a:t>
            </a:r>
          </a:p>
        </p:txBody>
      </p:sp>
      <p:sp>
        <p:nvSpPr>
          <p:cNvPr id="249" name="Oval 248"/>
          <p:cNvSpPr/>
          <p:nvPr/>
        </p:nvSpPr>
        <p:spPr>
          <a:xfrm>
            <a:off x="8513064" y="4489704"/>
            <a:ext cx="438912" cy="438912"/>
          </a:xfrm>
          <a:prstGeom prst="ellipse">
            <a:avLst/>
          </a:prstGeom>
          <a:solidFill>
            <a:srgbClr val="BB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8513064" y="4489704"/>
            <a:ext cx="43891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CO</a:t>
            </a:r>
          </a:p>
        </p:txBody>
      </p:sp>
      <p:sp>
        <p:nvSpPr>
          <p:cNvPr id="251" name="Oval 250"/>
          <p:cNvSpPr/>
          <p:nvPr/>
        </p:nvSpPr>
        <p:spPr>
          <a:xfrm>
            <a:off x="8238744" y="4764024"/>
            <a:ext cx="438912" cy="438912"/>
          </a:xfrm>
          <a:prstGeom prst="ellipse">
            <a:avLst/>
          </a:prstGeom>
          <a:solidFill>
            <a:srgbClr val="BB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8238744" y="4764024"/>
            <a:ext cx="43891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CO</a:t>
            </a:r>
          </a:p>
        </p:txBody>
      </p:sp>
      <p:sp>
        <p:nvSpPr>
          <p:cNvPr id="253" name="Oval 252"/>
          <p:cNvSpPr/>
          <p:nvPr/>
        </p:nvSpPr>
        <p:spPr>
          <a:xfrm>
            <a:off x="8513064" y="5038344"/>
            <a:ext cx="438912" cy="438912"/>
          </a:xfrm>
          <a:prstGeom prst="ellipse">
            <a:avLst/>
          </a:prstGeom>
          <a:solidFill>
            <a:srgbClr val="BB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8513064" y="5038344"/>
            <a:ext cx="43891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CO</a:t>
            </a:r>
          </a:p>
        </p:txBody>
      </p:sp>
      <p:cxnSp>
        <p:nvCxnSpPr>
          <p:cNvPr id="255" name="Connector 254"/>
          <p:cNvCxnSpPr/>
          <p:nvPr/>
        </p:nvCxnSpPr>
        <p:spPr>
          <a:xfrm flipV="1">
            <a:off x="8961120" y="4224528"/>
            <a:ext cx="1097280" cy="210312"/>
          </a:xfrm>
          <a:prstGeom prst="line">
            <a:avLst/>
          </a:prstGeom>
          <a:ln w="19050">
            <a:solidFill>
              <a:srgbClr val="1F60A8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 flipV="1">
            <a:off x="8961120" y="4434840"/>
            <a:ext cx="1097280" cy="274320"/>
          </a:xfrm>
          <a:prstGeom prst="line">
            <a:avLst/>
          </a:prstGeom>
          <a:ln w="19050">
            <a:solidFill>
              <a:srgbClr val="1F60A8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>
            <a:off x="8961120" y="5257800"/>
            <a:ext cx="2194560" cy="0"/>
          </a:xfrm>
          <a:prstGeom prst="line">
            <a:avLst/>
          </a:prstGeom>
          <a:ln w="19050">
            <a:solidFill>
              <a:srgbClr val="1F60A8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Oval 257"/>
          <p:cNvSpPr/>
          <p:nvPr/>
        </p:nvSpPr>
        <p:spPr>
          <a:xfrm>
            <a:off x="10076688" y="3986784"/>
            <a:ext cx="475488" cy="475488"/>
          </a:xfrm>
          <a:prstGeom prst="ellipse">
            <a:avLst/>
          </a:prstGeom>
          <a:solidFill>
            <a:srgbClr val="99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TextBox 258"/>
          <p:cNvSpPr txBox="1"/>
          <p:nvPr/>
        </p:nvSpPr>
        <p:spPr>
          <a:xfrm>
            <a:off x="10076688" y="3986784"/>
            <a:ext cx="47548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CO₂</a:t>
            </a:r>
          </a:p>
        </p:txBody>
      </p:sp>
      <p:sp>
        <p:nvSpPr>
          <p:cNvPr id="260" name="Oval 259"/>
          <p:cNvSpPr/>
          <p:nvPr/>
        </p:nvSpPr>
        <p:spPr>
          <a:xfrm>
            <a:off x="10735056" y="3986784"/>
            <a:ext cx="475488" cy="475488"/>
          </a:xfrm>
          <a:prstGeom prst="ellipse">
            <a:avLst/>
          </a:prstGeom>
          <a:solidFill>
            <a:srgbClr val="99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TextBox 260"/>
          <p:cNvSpPr txBox="1"/>
          <p:nvPr/>
        </p:nvSpPr>
        <p:spPr>
          <a:xfrm>
            <a:off x="10735056" y="3986784"/>
            <a:ext cx="47548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CO₂</a:t>
            </a:r>
          </a:p>
        </p:txBody>
      </p:sp>
      <p:sp>
        <p:nvSpPr>
          <p:cNvPr id="262" name="Oval 261"/>
          <p:cNvSpPr/>
          <p:nvPr/>
        </p:nvSpPr>
        <p:spPr>
          <a:xfrm>
            <a:off x="11329416" y="4443984"/>
            <a:ext cx="475488" cy="475488"/>
          </a:xfrm>
          <a:prstGeom prst="ellipse">
            <a:avLst/>
          </a:prstGeom>
          <a:solidFill>
            <a:srgbClr val="99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TextBox 262"/>
          <p:cNvSpPr txBox="1"/>
          <p:nvPr/>
        </p:nvSpPr>
        <p:spPr>
          <a:xfrm>
            <a:off x="11329416" y="4443984"/>
            <a:ext cx="47548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CO₂</a:t>
            </a:r>
          </a:p>
        </p:txBody>
      </p:sp>
      <p:sp>
        <p:nvSpPr>
          <p:cNvPr id="264" name="Oval 263"/>
          <p:cNvSpPr/>
          <p:nvPr/>
        </p:nvSpPr>
        <p:spPr>
          <a:xfrm>
            <a:off x="9546336" y="4645152"/>
            <a:ext cx="438912" cy="438912"/>
          </a:xfrm>
          <a:prstGeom prst="ellipse">
            <a:avLst/>
          </a:prstGeom>
          <a:solidFill>
            <a:srgbClr val="CC5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TextBox 264"/>
          <p:cNvSpPr txBox="1"/>
          <p:nvPr/>
        </p:nvSpPr>
        <p:spPr>
          <a:xfrm>
            <a:off x="9546336" y="4645152"/>
            <a:ext cx="43891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Oₐᵈₛ</a:t>
            </a:r>
          </a:p>
        </p:txBody>
      </p:sp>
      <p:sp>
        <p:nvSpPr>
          <p:cNvPr id="266" name="Oval 265"/>
          <p:cNvSpPr/>
          <p:nvPr/>
        </p:nvSpPr>
        <p:spPr>
          <a:xfrm>
            <a:off x="11347704" y="5010912"/>
            <a:ext cx="438912" cy="438912"/>
          </a:xfrm>
          <a:prstGeom prst="ellipse">
            <a:avLst/>
          </a:prstGeom>
          <a:solidFill>
            <a:srgbClr val="2B9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TextBox 266"/>
          <p:cNvSpPr txBox="1"/>
          <p:nvPr/>
        </p:nvSpPr>
        <p:spPr>
          <a:xfrm>
            <a:off x="11347704" y="5010912"/>
            <a:ext cx="43891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O₂</a:t>
            </a:r>
          </a:p>
        </p:txBody>
      </p:sp>
      <p:sp>
        <p:nvSpPr>
          <p:cNvPr id="268" name="Oval 267"/>
          <p:cNvSpPr/>
          <p:nvPr/>
        </p:nvSpPr>
        <p:spPr>
          <a:xfrm>
            <a:off x="11759184" y="5431536"/>
            <a:ext cx="438912" cy="438912"/>
          </a:xfrm>
          <a:prstGeom prst="ellipse">
            <a:avLst/>
          </a:prstGeom>
          <a:solidFill>
            <a:srgbClr val="B86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11759184" y="5431536"/>
            <a:ext cx="43891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Fe³⁺</a:t>
            </a:r>
          </a:p>
        </p:txBody>
      </p:sp>
      <p:cxnSp>
        <p:nvCxnSpPr>
          <p:cNvPr id="270" name="Connector 269"/>
          <p:cNvCxnSpPr/>
          <p:nvPr/>
        </p:nvCxnSpPr>
        <p:spPr>
          <a:xfrm flipH="1" flipV="1">
            <a:off x="9966960" y="5047488"/>
            <a:ext cx="1389888" cy="182880"/>
          </a:xfrm>
          <a:prstGeom prst="line">
            <a:avLst/>
          </a:prstGeom>
          <a:ln w="16510">
            <a:solidFill>
              <a:srgbClr val="1F60A8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 flipH="1">
            <a:off x="11567160" y="5468112"/>
            <a:ext cx="210312" cy="9144"/>
          </a:xfrm>
          <a:prstGeom prst="line">
            <a:avLst/>
          </a:prstGeom>
          <a:ln w="16510">
            <a:solidFill>
              <a:srgbClr val="1F60A8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2" name="Oval 271"/>
          <p:cNvSpPr/>
          <p:nvPr/>
        </p:nvSpPr>
        <p:spPr>
          <a:xfrm>
            <a:off x="8540496" y="5431536"/>
            <a:ext cx="512064" cy="512064"/>
          </a:xfrm>
          <a:prstGeom prst="ellipse">
            <a:avLst/>
          </a:prstGeom>
          <a:solidFill>
            <a:srgbClr val="8B4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TextBox 272"/>
          <p:cNvSpPr txBox="1"/>
          <p:nvPr/>
        </p:nvSpPr>
        <p:spPr>
          <a:xfrm>
            <a:off x="8540496" y="5431536"/>
            <a:ext cx="512064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Mn/Fe</a:t>
            </a:r>
          </a:p>
        </p:txBody>
      </p:sp>
      <p:sp>
        <p:nvSpPr>
          <p:cNvPr id="274" name="Oval 273"/>
          <p:cNvSpPr/>
          <p:nvPr/>
        </p:nvSpPr>
        <p:spPr>
          <a:xfrm>
            <a:off x="9089136" y="5431536"/>
            <a:ext cx="512064" cy="512064"/>
          </a:xfrm>
          <a:prstGeom prst="ellipse">
            <a:avLst/>
          </a:prstGeom>
          <a:solidFill>
            <a:srgbClr val="8B4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9089136" y="5431536"/>
            <a:ext cx="512064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Mn/Fe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8220456" y="6181344"/>
            <a:ext cx="3785616" cy="347472"/>
          </a:xfrm>
          <a:prstGeom prst="roundRect">
            <a:avLst>
              <a:gd name="adj" fmla="val 15000"/>
            </a:avLst>
          </a:prstGeom>
          <a:solidFill>
            <a:srgbClr val="868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TextBox 276"/>
          <p:cNvSpPr txBox="1"/>
          <p:nvPr/>
        </p:nvSpPr>
        <p:spPr>
          <a:xfrm>
            <a:off x="8220456" y="6217920"/>
            <a:ext cx="37856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N-AC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4114800" y="10972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33333"/>
                </a:solidFill>
                <a:latin typeface="Arial"/>
              </a:rPr>
              <a:t>N-doping enhances surface
basicity for NH₃ capture.</a:t>
            </a:r>
          </a:p>
        </p:txBody>
      </p:sp>
      <p:cxnSp>
        <p:nvCxnSpPr>
          <p:cNvPr id="279" name="Connector 278"/>
          <p:cNvCxnSpPr/>
          <p:nvPr/>
        </p:nvCxnSpPr>
        <p:spPr>
          <a:xfrm flipH="1" flipV="1">
            <a:off x="3995928" y="1170432"/>
            <a:ext cx="256031" cy="164592"/>
          </a:xfrm>
          <a:prstGeom prst="line">
            <a:avLst/>
          </a:prstGeom>
          <a:ln w="16510">
            <a:solidFill>
              <a:srgbClr val="2E75B6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0" name="TextBox 279"/>
          <p:cNvSpPr txBox="1"/>
          <p:nvPr/>
        </p:nvSpPr>
        <p:spPr>
          <a:xfrm>
            <a:off x="4114800" y="484632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33333"/>
                </a:solidFill>
                <a:latin typeface="Arial"/>
              </a:rPr>
              <a:t>Synergy enables
efficient SCR at 280°C.</a:t>
            </a:r>
          </a:p>
        </p:txBody>
      </p:sp>
      <p:cxnSp>
        <p:nvCxnSpPr>
          <p:cNvPr id="281" name="Connector 280"/>
          <p:cNvCxnSpPr/>
          <p:nvPr/>
        </p:nvCxnSpPr>
        <p:spPr>
          <a:xfrm flipH="1" flipV="1">
            <a:off x="3995928" y="4352544"/>
            <a:ext cx="256031" cy="905256"/>
          </a:xfrm>
          <a:prstGeom prst="line">
            <a:avLst/>
          </a:prstGeom>
          <a:ln w="16510">
            <a:solidFill>
              <a:srgbClr val="2E75B6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2" name="TextBox 281"/>
          <p:cNvSpPr txBox="1"/>
          <p:nvPr/>
        </p:nvSpPr>
        <p:spPr>
          <a:xfrm>
            <a:off x="8001000" y="484632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33333"/>
                </a:solidFill>
                <a:latin typeface="Arial"/>
              </a:rPr>
              <a:t>Mn-Fe cycle accelerates
oxygen activation for
CO oxidation</a:t>
            </a:r>
          </a:p>
        </p:txBody>
      </p:sp>
      <p:cxnSp>
        <p:nvCxnSpPr>
          <p:cNvPr id="283" name="Connector 282"/>
          <p:cNvCxnSpPr/>
          <p:nvPr/>
        </p:nvCxnSpPr>
        <p:spPr>
          <a:xfrm flipV="1">
            <a:off x="8001000" y="4352544"/>
            <a:ext cx="237744" cy="905256"/>
          </a:xfrm>
          <a:prstGeom prst="line">
            <a:avLst/>
          </a:prstGeom>
          <a:ln w="16510">
            <a:solidFill>
              <a:srgbClr val="2E75B6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>
            <a:off x="4041648" y="2212848"/>
            <a:ext cx="118872" cy="13716"/>
          </a:xfrm>
          <a:prstGeom prst="line">
            <a:avLst/>
          </a:prstGeom>
          <a:ln w="22860">
            <a:solidFill>
              <a:srgbClr val="1F60A8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 flipH="1">
            <a:off x="8046720" y="2212848"/>
            <a:ext cx="100584" cy="13716"/>
          </a:xfrm>
          <a:prstGeom prst="line">
            <a:avLst/>
          </a:prstGeom>
          <a:ln w="22860">
            <a:solidFill>
              <a:srgbClr val="1F60A8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 flipV="1">
            <a:off x="4041648" y="5253228"/>
            <a:ext cx="118872" cy="32004"/>
          </a:xfrm>
          <a:prstGeom prst="line">
            <a:avLst/>
          </a:prstGeom>
          <a:ln w="22860">
            <a:solidFill>
              <a:srgbClr val="1F60A8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 flipH="1" flipV="1">
            <a:off x="8046720" y="5253228"/>
            <a:ext cx="100584" cy="32004"/>
          </a:xfrm>
          <a:prstGeom prst="line">
            <a:avLst/>
          </a:prstGeom>
          <a:ln w="22860">
            <a:solidFill>
              <a:srgbClr val="1F60A8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