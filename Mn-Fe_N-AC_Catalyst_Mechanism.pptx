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11887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Schematic Mechanism for Synchronous NOₓ Removal and CO Oxidation over Mn-Fe/N-AC Catalyst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" y="621792"/>
            <a:ext cx="4114800" cy="2971800"/>
          </a:xfrm>
          <a:prstGeom prst="rect">
            <a:avLst/>
          </a:prstGeom>
          <a:solidFill>
            <a:srgbClr val="D0EAF8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1000" y="621792"/>
            <a:ext cx="4114800" cy="2971800"/>
          </a:xfrm>
          <a:prstGeom prst="rect">
            <a:avLst/>
          </a:prstGeom>
          <a:solidFill>
            <a:srgbClr val="FDF0D5"/>
          </a:solidFill>
          <a:ln w="19050">
            <a:solidFill>
              <a:srgbClr val="D08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" y="3703320"/>
            <a:ext cx="4114800" cy="2971800"/>
          </a:xfrm>
          <a:prstGeom prst="rect">
            <a:avLst/>
          </a:prstGeom>
          <a:solidFill>
            <a:srgbClr val="D5EBF5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0" y="3703320"/>
            <a:ext cx="4114800" cy="2971800"/>
          </a:xfrm>
          <a:prstGeom prst="rect">
            <a:avLst/>
          </a:prstGeom>
          <a:solidFill>
            <a:srgbClr val="FCE4EC"/>
          </a:solidFill>
          <a:ln w="19050">
            <a:solidFill>
              <a:srgbClr val="C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51960" y="621792"/>
            <a:ext cx="3703320" cy="6053328"/>
          </a:xfrm>
          <a:prstGeom prst="rect">
            <a:avLst/>
          </a:prstGeom>
          <a:solidFill>
            <a:srgbClr val="E8E8E8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7772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43984" y="8503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3752" y="7772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46904" y="8503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76672" y="7772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8503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2" y="7772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52744" y="8503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2512" y="7772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8503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85432" y="7772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58584" y="8503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0832" y="12801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43984" y="13533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73752" y="12801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46904" y="13533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76672" y="12801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49824" y="13533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79592" y="12801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52744" y="13533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12801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55664" y="13533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85432" y="12801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58584" y="13533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70832" y="17830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43984" y="18562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73752" y="17830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6904" y="18562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76672" y="17830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49824" y="18562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79592" y="17830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52744" y="18562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82512" y="17830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55664" y="18562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85432" y="17830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58584" y="18562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70832" y="22860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443984" y="23591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3752" y="22860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46904" y="23591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76672" y="22860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49824" y="23591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79592" y="22860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52744" y="23591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82512" y="22860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55664" y="23591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85432" y="22860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58584" y="23591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70832" y="278892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43984" y="286207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73752" y="278892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946904" y="286207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76672" y="278892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9824" y="286207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79592" y="278892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52744" y="286207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82512" y="278892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55664" y="286207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85432" y="278892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58584" y="286207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70832" y="32918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3984" y="33649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73752" y="32918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946904" y="33649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376672" y="32918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49824" y="33649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9592" y="32918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52744" y="33649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82512" y="32918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455664" y="33649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85432" y="329184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58584" y="336499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70832" y="37947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443984" y="38679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873752" y="37947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946904" y="38679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376672" y="37947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49824" y="38679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879592" y="37947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952744" y="38679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382512" y="37947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55664" y="38679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885432" y="379476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958584" y="386791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370832" y="42976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443984" y="43708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73752" y="42976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6904" y="43708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376672" y="42976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49824" y="43708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879592" y="42976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952744" y="43708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382512" y="42976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455664" y="43708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885432" y="429768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958584" y="437083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70832" y="48006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443984" y="48737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873752" y="48006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946904" y="48737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376672" y="48006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449824" y="48737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879592" y="48006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952744" y="48737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382512" y="48006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455664" y="48737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885432" y="4800600"/>
            <a:ext cx="466344" cy="466344"/>
          </a:xfrm>
          <a:prstGeom prst="rect">
            <a:avLst/>
          </a:prstGeom>
          <a:solidFill>
            <a:srgbClr val="A0A0A0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958584" y="4873752"/>
            <a:ext cx="320040" cy="32004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90872" y="850392"/>
            <a:ext cx="402336" cy="402336"/>
          </a:xfrm>
          <a:prstGeom prst="ellipse">
            <a:avLst/>
          </a:prstGeom>
          <a:solidFill>
            <a:srgbClr val="905090"/>
          </a:solidFill>
          <a:ln w="12700">
            <a:solidFill>
              <a:srgbClr val="90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690872" y="85039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Mn₃O₄</a:t>
            </a:r>
          </a:p>
        </p:txBody>
      </p:sp>
      <p:sp>
        <p:nvSpPr>
          <p:cNvPr id="119" name="Oval 118"/>
          <p:cNvSpPr/>
          <p:nvPr/>
        </p:nvSpPr>
        <p:spPr>
          <a:xfrm>
            <a:off x="5788152" y="896112"/>
            <a:ext cx="402336" cy="402336"/>
          </a:xfrm>
          <a:prstGeom prst="ellipse">
            <a:avLst/>
          </a:prstGeom>
          <a:solidFill>
            <a:srgbClr val="D07030"/>
          </a:solidFill>
          <a:ln w="12700">
            <a:solidFill>
              <a:srgbClr val="D07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88152" y="8961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Fe₃O₄</a:t>
            </a:r>
          </a:p>
        </p:txBody>
      </p:sp>
      <p:sp>
        <p:nvSpPr>
          <p:cNvPr id="121" name="Oval 120"/>
          <p:cNvSpPr/>
          <p:nvPr/>
        </p:nvSpPr>
        <p:spPr>
          <a:xfrm>
            <a:off x="4617720" y="1920239"/>
            <a:ext cx="365760" cy="365760"/>
          </a:xfrm>
          <a:prstGeom prst="ellipse">
            <a:avLst/>
          </a:prstGeom>
          <a:solidFill>
            <a:srgbClr val="905090"/>
          </a:solidFill>
          <a:ln w="12700">
            <a:solidFill>
              <a:srgbClr val="90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617720" y="192023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Mn₃O₄</a:t>
            </a:r>
          </a:p>
        </p:txBody>
      </p:sp>
      <p:sp>
        <p:nvSpPr>
          <p:cNvPr id="123" name="Oval 122"/>
          <p:cNvSpPr/>
          <p:nvPr/>
        </p:nvSpPr>
        <p:spPr>
          <a:xfrm>
            <a:off x="5577840" y="2423160"/>
            <a:ext cx="365760" cy="365760"/>
          </a:xfrm>
          <a:prstGeom prst="ellipse">
            <a:avLst/>
          </a:prstGeom>
          <a:solidFill>
            <a:srgbClr val="D07030"/>
          </a:solidFill>
          <a:ln w="12700">
            <a:solidFill>
              <a:srgbClr val="D07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577840" y="2423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Fe₃O₄</a:t>
            </a:r>
          </a:p>
        </p:txBody>
      </p:sp>
      <p:sp>
        <p:nvSpPr>
          <p:cNvPr id="125" name="Oval 124"/>
          <p:cNvSpPr/>
          <p:nvPr/>
        </p:nvSpPr>
        <p:spPr>
          <a:xfrm>
            <a:off x="4937759" y="3291839"/>
            <a:ext cx="365760" cy="365760"/>
          </a:xfrm>
          <a:prstGeom prst="ellipse">
            <a:avLst/>
          </a:prstGeom>
          <a:solidFill>
            <a:srgbClr val="D07030"/>
          </a:solidFill>
          <a:ln w="12700">
            <a:solidFill>
              <a:srgbClr val="D07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937759" y="329183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Fe₃O₄</a:t>
            </a:r>
          </a:p>
        </p:txBody>
      </p:sp>
      <p:sp>
        <p:nvSpPr>
          <p:cNvPr id="127" name="Oval 126"/>
          <p:cNvSpPr/>
          <p:nvPr/>
        </p:nvSpPr>
        <p:spPr>
          <a:xfrm>
            <a:off x="5916168" y="3035808"/>
            <a:ext cx="329184" cy="329184"/>
          </a:xfrm>
          <a:prstGeom prst="ellipse">
            <a:avLst/>
          </a:prstGeom>
          <a:solidFill>
            <a:srgbClr val="D07030"/>
          </a:solidFill>
          <a:ln w="12700">
            <a:solidFill>
              <a:srgbClr val="D07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16168" y="30358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Fe₃O₄</a:t>
            </a:r>
          </a:p>
        </p:txBody>
      </p:sp>
      <p:sp>
        <p:nvSpPr>
          <p:cNvPr id="129" name="Oval 128"/>
          <p:cNvSpPr/>
          <p:nvPr/>
        </p:nvSpPr>
        <p:spPr>
          <a:xfrm>
            <a:off x="5138928" y="4590288"/>
            <a:ext cx="329184" cy="329184"/>
          </a:xfrm>
          <a:prstGeom prst="ellipse">
            <a:avLst/>
          </a:prstGeom>
          <a:solidFill>
            <a:srgbClr val="D07030"/>
          </a:solidFill>
          <a:ln w="12700">
            <a:solidFill>
              <a:srgbClr val="D07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138928" y="45902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Fe₃O₄</a:t>
            </a:r>
          </a:p>
        </p:txBody>
      </p:sp>
      <p:sp>
        <p:nvSpPr>
          <p:cNvPr id="131" name="Oval 130"/>
          <p:cNvSpPr/>
          <p:nvPr/>
        </p:nvSpPr>
        <p:spPr>
          <a:xfrm>
            <a:off x="5961888" y="4315968"/>
            <a:ext cx="329184" cy="329184"/>
          </a:xfrm>
          <a:prstGeom prst="ellipse">
            <a:avLst/>
          </a:prstGeom>
          <a:solidFill>
            <a:srgbClr val="905090"/>
          </a:solidFill>
          <a:ln w="12700">
            <a:solidFill>
              <a:srgbClr val="90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961888" y="4315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Mn₃O₄</a:t>
            </a:r>
          </a:p>
        </p:txBody>
      </p:sp>
      <p:sp>
        <p:nvSpPr>
          <p:cNvPr id="133" name="Oval 132"/>
          <p:cNvSpPr/>
          <p:nvPr/>
        </p:nvSpPr>
        <p:spPr>
          <a:xfrm>
            <a:off x="4480560" y="137160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80560" y="136245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35" name="Oval 134"/>
          <p:cNvSpPr/>
          <p:nvPr/>
        </p:nvSpPr>
        <p:spPr>
          <a:xfrm>
            <a:off x="5120640" y="132588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120640" y="131673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37" name="Oval 136"/>
          <p:cNvSpPr/>
          <p:nvPr/>
        </p:nvSpPr>
        <p:spPr>
          <a:xfrm>
            <a:off x="5577840" y="1417319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577840" y="140817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39" name="Oval 138"/>
          <p:cNvSpPr/>
          <p:nvPr/>
        </p:nvSpPr>
        <p:spPr>
          <a:xfrm>
            <a:off x="4572000" y="237744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72000" y="23682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41" name="Oval 140"/>
          <p:cNvSpPr/>
          <p:nvPr/>
        </p:nvSpPr>
        <p:spPr>
          <a:xfrm>
            <a:off x="5394960" y="210312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94960" y="209397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43" name="Oval 142"/>
          <p:cNvSpPr/>
          <p:nvPr/>
        </p:nvSpPr>
        <p:spPr>
          <a:xfrm>
            <a:off x="5943600" y="192024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943600" y="19110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45" name="Oval 144"/>
          <p:cNvSpPr/>
          <p:nvPr/>
        </p:nvSpPr>
        <p:spPr>
          <a:xfrm>
            <a:off x="4846320" y="283464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846320" y="28254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47" name="Oval 146"/>
          <p:cNvSpPr/>
          <p:nvPr/>
        </p:nvSpPr>
        <p:spPr>
          <a:xfrm>
            <a:off x="5669280" y="274320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669280" y="273405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49" name="Oval 148"/>
          <p:cNvSpPr/>
          <p:nvPr/>
        </p:nvSpPr>
        <p:spPr>
          <a:xfrm>
            <a:off x="6126480" y="3383279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337413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51" name="Oval 150"/>
          <p:cNvSpPr/>
          <p:nvPr/>
        </p:nvSpPr>
        <p:spPr>
          <a:xfrm>
            <a:off x="4663440" y="384048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663440" y="383133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53" name="Oval 152"/>
          <p:cNvSpPr/>
          <p:nvPr/>
        </p:nvSpPr>
        <p:spPr>
          <a:xfrm>
            <a:off x="5303520" y="411480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303520" y="410565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55" name="Oval 154"/>
          <p:cNvSpPr/>
          <p:nvPr/>
        </p:nvSpPr>
        <p:spPr>
          <a:xfrm>
            <a:off x="5852160" y="4846320"/>
            <a:ext cx="182880" cy="182880"/>
          </a:xfrm>
          <a:prstGeom prst="ellipse">
            <a:avLst/>
          </a:prstGeom>
          <a:solidFill>
            <a:srgbClr val="206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852160" y="483717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70832" y="6263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  <a:latin typeface="Arial"/>
              </a:rPr>
              <a:t>Mn-Fe/N-AC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9728" y="65836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NH₃ Adsorption and Activation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64592" y="2377440"/>
            <a:ext cx="3931920" cy="5029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463040" y="2816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N-AC</a:t>
            </a:r>
          </a:p>
        </p:txBody>
      </p:sp>
      <p:sp>
        <p:nvSpPr>
          <p:cNvPr id="161" name="Oval 160"/>
          <p:cNvSpPr/>
          <p:nvPr/>
        </p:nvSpPr>
        <p:spPr>
          <a:xfrm>
            <a:off x="475488" y="1984248"/>
            <a:ext cx="512064" cy="512064"/>
          </a:xfrm>
          <a:prstGeom prst="ellipse">
            <a:avLst/>
          </a:prstGeom>
          <a:solidFill>
            <a:srgbClr val="804080"/>
          </a:solidFill>
          <a:ln w="12700">
            <a:solidFill>
              <a:srgbClr val="8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5488" y="19842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Mn/Fe</a:t>
            </a:r>
          </a:p>
        </p:txBody>
      </p:sp>
      <p:sp>
        <p:nvSpPr>
          <p:cNvPr id="163" name="Oval 162"/>
          <p:cNvSpPr/>
          <p:nvPr/>
        </p:nvSpPr>
        <p:spPr>
          <a:xfrm>
            <a:off x="987552" y="2039112"/>
            <a:ext cx="402336" cy="402336"/>
          </a:xfrm>
          <a:prstGeom prst="ellipse">
            <a:avLst/>
          </a:prstGeom>
          <a:solidFill>
            <a:srgbClr val="C06020"/>
          </a:solidFill>
          <a:ln w="12700">
            <a:solidFill>
              <a:srgbClr val="C06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87552" y="20391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Fe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2920" y="256032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L-acid</a:t>
            </a:r>
          </a:p>
        </p:txBody>
      </p:sp>
      <p:sp>
        <p:nvSpPr>
          <p:cNvPr id="166" name="Oval 165"/>
          <p:cNvSpPr/>
          <p:nvPr/>
        </p:nvSpPr>
        <p:spPr>
          <a:xfrm>
            <a:off x="2331720" y="1920240"/>
            <a:ext cx="457200" cy="457200"/>
          </a:xfrm>
          <a:prstGeom prst="ellipse">
            <a:avLst/>
          </a:prstGeom>
          <a:solidFill>
            <a:srgbClr val="D0A030"/>
          </a:solidFill>
          <a:ln w="12700">
            <a:solidFill>
              <a:srgbClr val="D0A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33172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B-acid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508760" y="1024128"/>
            <a:ext cx="1325880" cy="548640"/>
          </a:xfrm>
          <a:prstGeom prst="rect">
            <a:avLst/>
          </a:prstGeom>
          <a:solidFill>
            <a:srgbClr val="F5F5DC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536192" y="10241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Oxygen vacancy</a:t>
            </a:r>
          </a:p>
        </p:txBody>
      </p:sp>
      <p:sp>
        <p:nvSpPr>
          <p:cNvPr id="170" name="Oval 169"/>
          <p:cNvSpPr/>
          <p:nvPr/>
        </p:nvSpPr>
        <p:spPr>
          <a:xfrm>
            <a:off x="1865376" y="1252728"/>
            <a:ext cx="292608" cy="292608"/>
          </a:xfrm>
          <a:prstGeom prst="ellipse">
            <a:avLst/>
          </a:prstGeom>
          <a:solidFill>
            <a:srgbClr val="208020"/>
          </a:solidFill>
          <a:ln w="12700">
            <a:solidFill>
              <a:srgbClr val="208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65376" y="12527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O₂</a:t>
            </a:r>
          </a:p>
        </p:txBody>
      </p:sp>
      <p:sp>
        <p:nvSpPr>
          <p:cNvPr id="172" name="Oval 171"/>
          <p:cNvSpPr/>
          <p:nvPr/>
        </p:nvSpPr>
        <p:spPr>
          <a:xfrm>
            <a:off x="155448" y="704088"/>
            <a:ext cx="329184" cy="329184"/>
          </a:xfrm>
          <a:prstGeom prst="ellipse">
            <a:avLst/>
          </a:prstGeom>
          <a:solidFill>
            <a:srgbClr val="3080B0"/>
          </a:solidFill>
          <a:ln w="12700">
            <a:solidFill>
              <a:srgbClr val="308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55448" y="704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NH₃</a:t>
            </a:r>
          </a:p>
        </p:txBody>
      </p:sp>
      <p:sp>
        <p:nvSpPr>
          <p:cNvPr id="174" name="Oval 173"/>
          <p:cNvSpPr/>
          <p:nvPr/>
        </p:nvSpPr>
        <p:spPr>
          <a:xfrm>
            <a:off x="155448" y="1252728"/>
            <a:ext cx="329184" cy="329184"/>
          </a:xfrm>
          <a:prstGeom prst="ellipse">
            <a:avLst/>
          </a:prstGeom>
          <a:solidFill>
            <a:srgbClr val="3080B0"/>
          </a:solidFill>
          <a:ln w="12700">
            <a:solidFill>
              <a:srgbClr val="308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55448" y="125272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NH₃</a:t>
            </a:r>
          </a:p>
        </p:txBody>
      </p:sp>
      <p:sp>
        <p:nvSpPr>
          <p:cNvPr id="176" name="Oval 175"/>
          <p:cNvSpPr/>
          <p:nvPr/>
        </p:nvSpPr>
        <p:spPr>
          <a:xfrm>
            <a:off x="246888" y="1755648"/>
            <a:ext cx="329184" cy="329184"/>
          </a:xfrm>
          <a:prstGeom prst="ellipse">
            <a:avLst/>
          </a:prstGeom>
          <a:solidFill>
            <a:srgbClr val="3080B0"/>
          </a:solidFill>
          <a:ln w="12700">
            <a:solidFill>
              <a:srgbClr val="308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46888" y="17556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NH₃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66928" y="1463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L-NH₃</a:t>
            </a:r>
          </a:p>
        </p:txBody>
      </p:sp>
      <p:sp>
        <p:nvSpPr>
          <p:cNvPr id="179" name="Oval 178"/>
          <p:cNvSpPr/>
          <p:nvPr/>
        </p:nvSpPr>
        <p:spPr>
          <a:xfrm>
            <a:off x="2514600" y="1417320"/>
            <a:ext cx="365760" cy="365760"/>
          </a:xfrm>
          <a:prstGeom prst="ellipse">
            <a:avLst/>
          </a:prstGeom>
          <a:solidFill>
            <a:srgbClr val="6060C0"/>
          </a:solidFill>
          <a:ln w="12700">
            <a:solidFill>
              <a:srgbClr val="606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51460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NH₄⁺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40280" y="150876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H₄⁺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728" y="292608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62626"/>
                </a:solidFill>
                <a:latin typeface="Arial"/>
              </a:rPr>
              <a:t>Oxygen vacancies in all surface active sites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279392" y="10972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Arial"/>
              </a:rPr>
              <a:t>N-doping enhances surface
basicity for NH₃ capture.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046720" y="65836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Mn-Fe Synergistic Redox Cycle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119872" y="1051560"/>
            <a:ext cx="3931920" cy="1737360"/>
          </a:xfrm>
          <a:prstGeom prst="rect">
            <a:avLst/>
          </a:prstGeom>
          <a:solidFill>
            <a:srgbClr val="FFF8E8"/>
          </a:solidFill>
          <a:ln w="12700">
            <a:solidFill>
              <a:srgbClr val="D08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183879" y="1115568"/>
            <a:ext cx="3794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  <a:latin typeface="Arial"/>
              </a:rPr>
              <a:t>Mn⁴⁺ + Fe²⁺  ⇌  Mn³⁺ + Fe³⁺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275320" y="15727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2626"/>
                </a:solidFill>
                <a:latin typeface="Arial"/>
              </a:rPr>
              <a:t>e⁻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469880" y="15727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2626"/>
                </a:solidFill>
                <a:latin typeface="Arial"/>
              </a:rPr>
              <a:t>e⁻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469880" y="1920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400"/>
                </a:solidFill>
                <a:latin typeface="Arial"/>
              </a:rPr>
              <a:t>Oₐdₓ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119872" y="28346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Arial"/>
              </a:rPr>
              <a:t>Electron transfer forats highly active Mn⁴⁺</a:t>
            </a:r>
          </a:p>
          <a:p>
            <a:pPr algn="l"/>
            <a:r>
              <a:rPr sz="850" b="0">
                <a:solidFill>
                  <a:srgbClr val="262626"/>
                </a:solidFill>
                <a:latin typeface="Arial"/>
              </a:rPr>
              <a:t>oxidation sites and simultaneously activate</a:t>
            </a:r>
          </a:p>
          <a:p>
            <a:pPr algn="l"/>
            <a:r>
              <a:rPr sz="850" b="0">
                <a:solidFill>
                  <a:srgbClr val="262626"/>
                </a:solidFill>
                <a:latin typeface="Arial"/>
              </a:rPr>
              <a:t>surface adsorbed oxygen species (Oₐdₓ)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9728" y="373989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Low-Temperature SCR Reaction Path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9728" y="3950208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(L-H &amp; E-R Mechanisms)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103120" y="4206240"/>
            <a:ext cx="27432" cy="2331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37160" y="4187952"/>
            <a:ext cx="1938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E-R mechanism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148840" y="4187952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L-H mechanism</a:t>
            </a:r>
          </a:p>
        </p:txBody>
      </p:sp>
      <p:sp>
        <p:nvSpPr>
          <p:cNvPr id="196" name="Oval 195"/>
          <p:cNvSpPr/>
          <p:nvPr/>
        </p:nvSpPr>
        <p:spPr>
          <a:xfrm>
            <a:off x="246888" y="4681728"/>
            <a:ext cx="512064" cy="512064"/>
          </a:xfrm>
          <a:prstGeom prst="ellipse">
            <a:avLst/>
          </a:prstGeom>
          <a:solidFill>
            <a:srgbClr val="804080"/>
          </a:solidFill>
          <a:ln w="12700">
            <a:solidFill>
              <a:srgbClr val="8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246888" y="468172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Mn/Fe</a:t>
            </a:r>
          </a:p>
        </p:txBody>
      </p:sp>
      <p:sp>
        <p:nvSpPr>
          <p:cNvPr id="198" name="Oval 197"/>
          <p:cNvSpPr/>
          <p:nvPr/>
        </p:nvSpPr>
        <p:spPr>
          <a:xfrm>
            <a:off x="749808" y="4956048"/>
            <a:ext cx="512064" cy="512064"/>
          </a:xfrm>
          <a:prstGeom prst="ellipse">
            <a:avLst/>
          </a:prstGeom>
          <a:solidFill>
            <a:srgbClr val="804080"/>
          </a:solidFill>
          <a:ln w="12700">
            <a:solidFill>
              <a:srgbClr val="8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49808" y="49560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Mn</a:t>
            </a:r>
          </a:p>
        </p:txBody>
      </p:sp>
      <p:sp>
        <p:nvSpPr>
          <p:cNvPr id="200" name="Oval 199"/>
          <p:cNvSpPr/>
          <p:nvPr/>
        </p:nvSpPr>
        <p:spPr>
          <a:xfrm>
            <a:off x="320040" y="4343400"/>
            <a:ext cx="365760" cy="365760"/>
          </a:xfrm>
          <a:prstGeom prst="ellipse">
            <a:avLst/>
          </a:prstGeom>
          <a:solidFill>
            <a:srgbClr val="705090"/>
          </a:solidFill>
          <a:ln w="12700">
            <a:solidFill>
              <a:srgbClr val="70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0040" y="4343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202" name="Oval 201"/>
          <p:cNvSpPr/>
          <p:nvPr/>
        </p:nvSpPr>
        <p:spPr>
          <a:xfrm>
            <a:off x="1188720" y="4480559"/>
            <a:ext cx="365760" cy="365760"/>
          </a:xfrm>
          <a:prstGeom prst="ellipse">
            <a:avLst/>
          </a:prstGeom>
          <a:solidFill>
            <a:srgbClr val="705090"/>
          </a:solidFill>
          <a:ln w="12700">
            <a:solidFill>
              <a:srgbClr val="70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188720" y="44805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85800" y="466344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L-NH₃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440" y="50749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L-NH₃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64592" y="5943600"/>
            <a:ext cx="1828800" cy="38404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365760" y="5989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N-AC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440" y="634593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0000"/>
                </a:solidFill>
                <a:latin typeface="Arial"/>
              </a:rPr>
              <a:t>L-H (co-adsorption)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176272" y="4462272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Arial"/>
              </a:rPr>
              <a:t>Co-adsorbed
L-NH₃</a:t>
            </a:r>
          </a:p>
        </p:txBody>
      </p:sp>
      <p:sp>
        <p:nvSpPr>
          <p:cNvPr id="210" name="Oval 209"/>
          <p:cNvSpPr/>
          <p:nvPr/>
        </p:nvSpPr>
        <p:spPr>
          <a:xfrm>
            <a:off x="3154679" y="4370832"/>
            <a:ext cx="365760" cy="365760"/>
          </a:xfrm>
          <a:prstGeom prst="ellipse">
            <a:avLst/>
          </a:prstGeom>
          <a:solidFill>
            <a:srgbClr val="705090"/>
          </a:solidFill>
          <a:ln w="12700">
            <a:solidFill>
              <a:srgbClr val="70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154679" y="4370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291840" y="4773168"/>
            <a:ext cx="987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000"/>
                </a:solidFill>
                <a:latin typeface="Arial"/>
              </a:rPr>
              <a:t>N₂
+ H₂O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468880" y="5166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Arial"/>
              </a:rPr>
              <a:t>NOₓ O═N─O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2176272" y="5943600"/>
            <a:ext cx="1901952" cy="38404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331720" y="598932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N-AC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279392" y="54406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Arial"/>
              </a:rPr>
              <a:t>Synergy enables
efficient SCR at 280°C.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046720" y="373989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CO/HCHO Oxidation Path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8046720" y="3950208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(Mars-van Krevelen Mechanism)</a:t>
            </a:r>
          </a:p>
        </p:txBody>
      </p:sp>
      <p:sp>
        <p:nvSpPr>
          <p:cNvPr id="219" name="Oval 218"/>
          <p:cNvSpPr/>
          <p:nvPr/>
        </p:nvSpPr>
        <p:spPr>
          <a:xfrm>
            <a:off x="7982711" y="4096512"/>
            <a:ext cx="402336" cy="402336"/>
          </a:xfrm>
          <a:prstGeom prst="ellipse">
            <a:avLst/>
          </a:prstGeom>
          <a:solidFill>
            <a:srgbClr val="CC2222"/>
          </a:solidFill>
          <a:ln w="127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982711" y="40965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</a:t>
            </a:r>
          </a:p>
        </p:txBody>
      </p:sp>
      <p:sp>
        <p:nvSpPr>
          <p:cNvPr id="221" name="Oval 220"/>
          <p:cNvSpPr/>
          <p:nvPr/>
        </p:nvSpPr>
        <p:spPr>
          <a:xfrm>
            <a:off x="8257031" y="4370832"/>
            <a:ext cx="402336" cy="402336"/>
          </a:xfrm>
          <a:prstGeom prst="ellipse">
            <a:avLst/>
          </a:prstGeom>
          <a:solidFill>
            <a:srgbClr val="CC2222"/>
          </a:solidFill>
          <a:ln w="127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257031" y="437083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</a:t>
            </a:r>
          </a:p>
        </p:txBody>
      </p:sp>
      <p:sp>
        <p:nvSpPr>
          <p:cNvPr id="223" name="Oval 222"/>
          <p:cNvSpPr/>
          <p:nvPr/>
        </p:nvSpPr>
        <p:spPr>
          <a:xfrm>
            <a:off x="8165592" y="5010912"/>
            <a:ext cx="402336" cy="402336"/>
          </a:xfrm>
          <a:prstGeom prst="ellipse">
            <a:avLst/>
          </a:prstGeom>
          <a:solidFill>
            <a:srgbClr val="CC2222"/>
          </a:solidFill>
          <a:ln w="127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165592" y="50109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</a:t>
            </a:r>
          </a:p>
        </p:txBody>
      </p:sp>
      <p:sp>
        <p:nvSpPr>
          <p:cNvPr id="225" name="Oval 224"/>
          <p:cNvSpPr/>
          <p:nvPr/>
        </p:nvSpPr>
        <p:spPr>
          <a:xfrm>
            <a:off x="8439911" y="4736592"/>
            <a:ext cx="402336" cy="402336"/>
          </a:xfrm>
          <a:prstGeom prst="ellipse">
            <a:avLst/>
          </a:prstGeom>
          <a:solidFill>
            <a:srgbClr val="CC2222"/>
          </a:solidFill>
          <a:ln w="127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8439911" y="473659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</a:t>
            </a:r>
          </a:p>
        </p:txBody>
      </p:sp>
      <p:sp>
        <p:nvSpPr>
          <p:cNvPr id="227" name="Oval 226"/>
          <p:cNvSpPr/>
          <p:nvPr/>
        </p:nvSpPr>
        <p:spPr>
          <a:xfrm>
            <a:off x="9518904" y="4059935"/>
            <a:ext cx="438912" cy="438912"/>
          </a:xfrm>
          <a:prstGeom prst="ellipse">
            <a:avLst/>
          </a:prstGeom>
          <a:solidFill>
            <a:srgbClr val="AA1111"/>
          </a:solidFill>
          <a:ln w="12700">
            <a:solidFill>
              <a:srgbClr val="AA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9518904" y="4059935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CO₂</a:t>
            </a:r>
          </a:p>
        </p:txBody>
      </p:sp>
      <p:sp>
        <p:nvSpPr>
          <p:cNvPr id="229" name="Oval 228"/>
          <p:cNvSpPr/>
          <p:nvPr/>
        </p:nvSpPr>
        <p:spPr>
          <a:xfrm>
            <a:off x="10204704" y="4059935"/>
            <a:ext cx="438912" cy="438912"/>
          </a:xfrm>
          <a:prstGeom prst="ellipse">
            <a:avLst/>
          </a:prstGeom>
          <a:solidFill>
            <a:srgbClr val="AA1111"/>
          </a:solidFill>
          <a:ln w="12700">
            <a:solidFill>
              <a:srgbClr val="AA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204704" y="4059935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CO₂</a:t>
            </a:r>
          </a:p>
        </p:txBody>
      </p:sp>
      <p:sp>
        <p:nvSpPr>
          <p:cNvPr id="231" name="Oval 230"/>
          <p:cNvSpPr/>
          <p:nvPr/>
        </p:nvSpPr>
        <p:spPr>
          <a:xfrm>
            <a:off x="10799064" y="4809744"/>
            <a:ext cx="438912" cy="438912"/>
          </a:xfrm>
          <a:prstGeom prst="ellipse">
            <a:avLst/>
          </a:prstGeom>
          <a:solidFill>
            <a:srgbClr val="AA1111"/>
          </a:solidFill>
          <a:ln w="12700">
            <a:solidFill>
              <a:srgbClr val="AA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0799064" y="480974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CO₂</a:t>
            </a:r>
          </a:p>
        </p:txBody>
      </p:sp>
      <p:sp>
        <p:nvSpPr>
          <p:cNvPr id="233" name="Oval 232"/>
          <p:cNvSpPr/>
          <p:nvPr/>
        </p:nvSpPr>
        <p:spPr>
          <a:xfrm>
            <a:off x="9217152" y="4553712"/>
            <a:ext cx="402336" cy="402336"/>
          </a:xfrm>
          <a:prstGeom prst="ellipse">
            <a:avLst/>
          </a:prstGeom>
          <a:solidFill>
            <a:srgbClr val="CC4400"/>
          </a:solidFill>
          <a:ln w="12700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9217152" y="45537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Oₐdₓ</a:t>
            </a:r>
          </a:p>
        </p:txBody>
      </p:sp>
      <p:sp>
        <p:nvSpPr>
          <p:cNvPr id="235" name="Oval 234"/>
          <p:cNvSpPr/>
          <p:nvPr/>
        </p:nvSpPr>
        <p:spPr>
          <a:xfrm>
            <a:off x="10954511" y="5193792"/>
            <a:ext cx="402336" cy="402336"/>
          </a:xfrm>
          <a:prstGeom prst="ellipse">
            <a:avLst/>
          </a:prstGeom>
          <a:solidFill>
            <a:srgbClr val="209020"/>
          </a:solidFill>
          <a:ln w="12700">
            <a:solidFill>
              <a:srgbClr val="209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0954511" y="519379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O₂</a:t>
            </a:r>
          </a:p>
        </p:txBody>
      </p:sp>
      <p:sp>
        <p:nvSpPr>
          <p:cNvPr id="237" name="Oval 236"/>
          <p:cNvSpPr/>
          <p:nvPr/>
        </p:nvSpPr>
        <p:spPr>
          <a:xfrm>
            <a:off x="11320272" y="5559552"/>
            <a:ext cx="402336" cy="402336"/>
          </a:xfrm>
          <a:prstGeom prst="ellipse">
            <a:avLst/>
          </a:prstGeom>
          <a:solidFill>
            <a:srgbClr val="C06020"/>
          </a:solidFill>
          <a:ln w="12700">
            <a:solidFill>
              <a:srgbClr val="C06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1320272" y="555955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Fe³⁺</a:t>
            </a:r>
          </a:p>
        </p:txBody>
      </p:sp>
      <p:sp>
        <p:nvSpPr>
          <p:cNvPr id="239" name="Oval 238"/>
          <p:cNvSpPr/>
          <p:nvPr/>
        </p:nvSpPr>
        <p:spPr>
          <a:xfrm>
            <a:off x="8183879" y="5486400"/>
            <a:ext cx="548640" cy="548640"/>
          </a:xfrm>
          <a:prstGeom prst="ellipse">
            <a:avLst/>
          </a:prstGeom>
          <a:solidFill>
            <a:srgbClr val="804080"/>
          </a:solidFill>
          <a:ln w="12700">
            <a:solidFill>
              <a:srgbClr val="8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8183879" y="5486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Mn/Fe</a:t>
            </a:r>
          </a:p>
        </p:txBody>
      </p:sp>
      <p:sp>
        <p:nvSpPr>
          <p:cNvPr id="241" name="Oval 240"/>
          <p:cNvSpPr/>
          <p:nvPr/>
        </p:nvSpPr>
        <p:spPr>
          <a:xfrm>
            <a:off x="8778240" y="5486400"/>
            <a:ext cx="548640" cy="548640"/>
          </a:xfrm>
          <a:prstGeom prst="ellipse">
            <a:avLst/>
          </a:prstGeom>
          <a:solidFill>
            <a:srgbClr val="804080"/>
          </a:solidFill>
          <a:ln w="12700">
            <a:solidFill>
              <a:srgbClr val="8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778240" y="5486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Mn/Fe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8119872" y="6309360"/>
            <a:ext cx="3931920" cy="347472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686800" y="63367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N-AC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279392" y="457200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Arial"/>
              </a:rPr>
              <a:t>Mn-Fe cycle accelerates
oxygen activation for
CO oxidation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370832" y="64008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05090"/>
                </a:solidFill>
                <a:latin typeface="Arial"/>
              </a:rPr>
              <a:t>Mn₃O₄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806440" y="64008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07030"/>
                </a:solidFill>
                <a:latin typeface="Arial"/>
              </a:rPr>
              <a:t>Fe₃O₄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4187952" y="1874519"/>
            <a:ext cx="64008" cy="0"/>
          </a:xfrm>
          <a:prstGeom prst="line">
            <a:avLst/>
          </a:prstGeom>
          <a:ln w="25400">
            <a:solidFill>
              <a:srgbClr val="2E75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>
            <a:off x="7936992" y="1874519"/>
            <a:ext cx="64008" cy="0"/>
          </a:xfrm>
          <a:prstGeom prst="line">
            <a:avLst/>
          </a:prstGeom>
          <a:ln w="25400">
            <a:solidFill>
              <a:srgbClr val="2E75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4187952" y="5184648"/>
            <a:ext cx="64008" cy="0"/>
          </a:xfrm>
          <a:prstGeom prst="line">
            <a:avLst/>
          </a:prstGeom>
          <a:ln w="25400">
            <a:solidFill>
              <a:srgbClr val="2E75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>
            <a:off x="7936992" y="5184648"/>
            <a:ext cx="64008" cy="0"/>
          </a:xfrm>
          <a:prstGeom prst="line">
            <a:avLst/>
          </a:prstGeom>
          <a:ln w="25400">
            <a:solidFill>
              <a:srgbClr val="2E75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